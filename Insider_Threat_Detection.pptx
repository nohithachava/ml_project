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pic>
        <p:nvPicPr>
          <p:cNvPr id="6" name="Background" descr="bg_title.jpg"/>
          <p:cNvPicPr>
            <a:picLocks noChangeAspect="1"/>
          </p:cNvPicPr>
          <p:nvPr/>
        </p:nvPicPr>
        <p:blipFill>
          <a:blip r:embed="rId4"/>
          <a:stretch>
            <a:fillRect/>
          </a:stretch>
        </p:blipFill>
        <p:spPr>
          <a:xfrm>
            <a:off x="0" y="0"/>
            <a:ext cx="12191695" cy="6858000"/>
          </a:xfrm>
          <a:prstGeom prst="rect">
            <a:avLst/>
          </a:prstGeom>
        </p:spPr>
      </p:pic>
      <p:sp>
        <p:nvSpPr>
          <p:cNvPr id="3" name="TextBox 2"/>
          <p:cNvSpPr txBox="1"/>
          <p:nvPr/>
        </p:nvSpPr>
        <p:spPr>
          <a:xfrm>
            <a:off x="731520" y="1234440"/>
            <a:ext cx="10698480" cy="1463040"/>
          </a:xfrm>
          <a:prstGeom prst="rect">
            <a:avLst/>
          </a:prstGeom>
          <a:noFill/>
        </p:spPr>
        <p:txBody>
          <a:bodyPr wrap="square">
            <a:spAutoFit/>
          </a:bodyPr>
          <a:lstStyle/>
          <a:p>
            <a:pPr algn="ctr"/>
            <a:r>
              <a:rPr sz="3100" b="1">
                <a:solidFill>
                  <a:srgbClr val="7DD3FC"/>
                </a:solidFill>
                <a:latin typeface="Aptos"/>
              </a:rPr>
              <a:t>INSIDER THREAT DETECTION USING ELASTIC NET AND RANDOM FOREST</a:t>
            </a:r>
          </a:p>
        </p:txBody>
      </p:sp>
      <p:sp>
        <p:nvSpPr>
          <p:cNvPr id="5" name="TextBox 4"/>
          <p:cNvSpPr txBox="1"/>
          <p:nvPr/>
        </p:nvSpPr>
        <p:spPr>
          <a:xfrm>
            <a:off x="4206240" y="5989320"/>
            <a:ext cx="3749039" cy="365760"/>
          </a:xfrm>
          <a:prstGeom prst="rect">
            <a:avLst/>
          </a:prstGeom>
          <a:noFill/>
        </p:spPr>
        <p:txBody>
          <a:bodyPr wrap="square">
            <a:spAutoFit/>
          </a:bodyPr>
          <a:lstStyle/>
          <a:p>
            <a:pPr algn="ctr"/>
            <a:r>
              <a:rPr sz="1300" b="1">
                <a:solidFill>
                  <a:srgbClr val="96AFC3"/>
                </a:solidFill>
                <a:latin typeface="Aptos"/>
              </a:rPr>
              <a:t>MACHINE LEARNING PROJECT</a:t>
            </a:r>
          </a:p>
        </p:txBody>
      </p:sp>
      <p:sp>
        <p:nvSpPr>
          <p:cNvPr id="7" name="TextBox 6"/>
          <p:cNvSpPr txBox="1"/>
          <p:nvPr/>
        </p:nvSpPr>
        <p:spPr>
          <a:xfrm>
            <a:off x="3398367" y="3063240"/>
            <a:ext cx="2377440" cy="2011680"/>
          </a:xfrm>
          <a:prstGeom prst="rect">
            <a:avLst/>
          </a:prstGeom>
          <a:noFill/>
        </p:spPr>
        <p:txBody>
          <a:bodyPr wrap="square">
            <a:spAutoFit/>
          </a:bodyPr>
          <a:lstStyle/>
          <a:p>
            <a:pPr algn="l">
              <a:spcAft>
                <a:spcPts val="600"/>
              </a:spcAft>
            </a:pPr>
            <a:r>
              <a:rPr sz="2200" b="1">
                <a:solidFill>
                  <a:srgbClr val="7DD3FC"/>
                </a:solidFill>
                <a:latin typeface="Aptos"/>
              </a:rPr>
              <a:t>Roll No</a:t>
            </a:r>
          </a:p>
          <a:p>
            <a:pPr algn="l">
              <a:spcAft>
                <a:spcPts val="600"/>
              </a:spcAft>
            </a:pPr>
            <a:r>
              <a:rPr sz="2200" b="0">
                <a:solidFill>
                  <a:srgbClr val="F0F5FA"/>
                </a:solidFill>
                <a:latin typeface="Aptos"/>
              </a:rPr>
              <a:t>2520030118</a:t>
            </a:r>
          </a:p>
          <a:p>
            <a:pPr algn="l">
              <a:spcAft>
                <a:spcPts val="600"/>
              </a:spcAft>
            </a:pPr>
            <a:r>
              <a:rPr sz="2200" b="0">
                <a:solidFill>
                  <a:srgbClr val="F0F5FA"/>
                </a:solidFill>
                <a:latin typeface="Aptos"/>
              </a:rPr>
              <a:t>2520030130</a:t>
            </a:r>
          </a:p>
          <a:p>
            <a:pPr algn="l">
              <a:spcAft>
                <a:spcPts val="600"/>
              </a:spcAft>
            </a:pPr>
            <a:r>
              <a:rPr sz="2200" b="0">
                <a:solidFill>
                  <a:srgbClr val="F0F5FA"/>
                </a:solidFill>
                <a:latin typeface="Aptos"/>
              </a:rPr>
              <a:t>2520030127</a:t>
            </a:r>
          </a:p>
        </p:txBody>
      </p:sp>
      <p:sp>
        <p:nvSpPr>
          <p:cNvPr id="8" name="TextBox 7"/>
          <p:cNvSpPr txBox="1"/>
          <p:nvPr/>
        </p:nvSpPr>
        <p:spPr>
          <a:xfrm>
            <a:off x="6050127" y="3063240"/>
            <a:ext cx="2743200" cy="2011680"/>
          </a:xfrm>
          <a:prstGeom prst="rect">
            <a:avLst/>
          </a:prstGeom>
          <a:noFill/>
        </p:spPr>
        <p:txBody>
          <a:bodyPr wrap="square">
            <a:spAutoFit/>
          </a:bodyPr>
          <a:lstStyle/>
          <a:p>
            <a:pPr algn="l">
              <a:spcAft>
                <a:spcPts val="600"/>
              </a:spcAft>
            </a:pPr>
            <a:r>
              <a:rPr sz="2200" b="1">
                <a:solidFill>
                  <a:srgbClr val="7DD3FC"/>
                </a:solidFill>
                <a:latin typeface="Aptos"/>
              </a:rPr>
              <a:t>Names</a:t>
            </a:r>
          </a:p>
          <a:p>
            <a:pPr algn="l">
              <a:spcAft>
                <a:spcPts val="600"/>
              </a:spcAft>
            </a:pPr>
            <a:r>
              <a:rPr sz="2200" b="0">
                <a:solidFill>
                  <a:srgbClr val="F0F5FA"/>
                </a:solidFill>
                <a:latin typeface="Aptos"/>
              </a:rPr>
              <a:t>G. Laasya</a:t>
            </a:r>
          </a:p>
          <a:p>
            <a:pPr algn="l">
              <a:spcAft>
                <a:spcPts val="600"/>
              </a:spcAft>
            </a:pPr>
            <a:r>
              <a:rPr sz="2200" b="0">
                <a:solidFill>
                  <a:srgbClr val="F0F5FA"/>
                </a:solidFill>
                <a:latin typeface="Aptos"/>
              </a:rPr>
              <a:t>Ch. Nohitha</a:t>
            </a:r>
          </a:p>
          <a:p>
            <a:pPr algn="l">
              <a:spcAft>
                <a:spcPts val="600"/>
              </a:spcAft>
            </a:pPr>
            <a:r>
              <a:rPr sz="2200" b="0">
                <a:solidFill>
                  <a:srgbClr val="F0F5FA"/>
                </a:solidFill>
                <a:latin typeface="Aptos"/>
              </a:rPr>
              <a:t>K. Shresta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Introduction</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Insider threats are security risks caused by authorized users.
Suspicious user behavior can sometimes resemble normal activity.
Machine learning can learn patterns from historical user activity and help identify potentially suspicious behavior.
Our project combines Elastic Net for feature selection with Random Forest for classification.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Importance of the Topic</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 Insider activity can be difficult to distinguish from normal activity.
• Large amounts of user activity make manual monitoring difficult.
• Machine learning can identify patterns in activity data.
• Feature selection can reduce unnecessary information.
• Automated classification can support earlier identification of potentially suspicious behavior.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Problem Statement</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Authorized User
        ↓
Large Amount of Activity Data
        ↓
Difficult Manual Monitoring
        ↓
Suspicious Patterns May Be Missed
        ↓
Machine-Learning-Based Detection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Objectives</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 Detect potentially suspicious insider activity
🔬 Select important features using Elastic Net
🌲 Classify activity using Random Forest
📊 Evaluate the model using appropriate performance metrics
🖥 Provide an interactive website for prediction and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Proposed System</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Dataset
   ↓
Data Preprocessing
   ↓
Feature Engineering
   ↓
Train / Test Split
   ↓
Elastic Net Feature Selection
   ↓
Random Forest Classification
   ↓
Threat Prediction
   ↓
Evaluation &amp; Website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Dataset &amp; Data Preprocessing</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Dataset: Insider / User Activity Data
Preprocessing steps:
• Understand the dataset and attributes
• Check and handle missing values
• Check duplicates
• Encode categorical features where required
• Scale numerical features where required
• Split the data into training and testing sets
Actual dataset statistics will be added after final dataset selection.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Elastic Net</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Elastic Net combines L1 and L2 regularization.
L1 regularization → encourages sparse coefficients and helps with feature selection.
L2 regularization → helps stabilize the model coefficients.
Original Features
        ↓
     Elastic Net
        ↓
Selected Important Features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Random Forest</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Random Forest is an ensemble learning algorithm based on multiple decision trees.
• Builds multiple decision trees
• Combines their predictions
• Can model nonlinear relationships
• Used in our project for classification
Output:
Normal Activity  OR  Potential Threat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Website / System Interface</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LOGIN
   ↓
DASHBOARD
   ↓
USER ACTIVITY
   ↓
THREAT DETECTION
   ↓
PREDICTION RESULT
   ↓
ALERTS / HISTORY
Additional sections:
Analytics | Elastic Net | Random Forest | Evaluation | Monitoring | Reports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Analytics &amp; Visualization</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The website can present:
• Threat distribution
• Normal vs Threat activity
• Threat activity over time
• User/activity analysis
• Risk-level distribution
• Correlation heatmap
Graphs will use values generated from the actual dataset.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Model Evaluation</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Performance metrics:
Accuracy
Precision
Recall
F1 Score
ROC-AUC
Visualizations:
• Confusion Matrix
• ROC Curve
• Precision-Recall Curve
Actual values will be added from the trained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Feature Importance &amp; Model Analysis</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Elastic Net
→ Identifies important features
Random Forest
→ Provides feature importance values
The final presentation will include graphs based on the actual trained model.
Example visual:
Feature A  ███████████
Feature B  █████████
Feature C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MLOps &amp; Deployment</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Data
 ↓
Training
 ↓
Saved Model
 ↓
Prediction API
 ↓
Website
 ↓
Monitoring
 ↓
Retraining
Monitoring can include prediction volume, latency, threat rate and data drift.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Expected / Final Results</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The final project results will present:
✓ Features selected by Elastic Net
✓ Random Forest classification results
✓ Accuracy, Precision, Recall and F1 Score
✓ Confusion Matrix
✓ ROC-AUC / PR-AUC where appropriate
✓ Important features
✓ Website prediction functionality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pic>
        <p:nvPicPr>
          <p:cNvPr id="6" name="Background"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94360" y="411480"/>
            <a:ext cx="10972800" cy="594360"/>
          </a:xfrm>
          <a:prstGeom prst="rect">
            <a:avLst/>
          </a:prstGeom>
          <a:noFill/>
        </p:spPr>
        <p:txBody>
          <a:bodyPr wrap="square">
            <a:spAutoFit/>
          </a:bodyPr>
          <a:lstStyle/>
          <a:p>
            <a:pPr algn="l"/>
            <a:r>
              <a:rPr sz="2700" b="1">
                <a:solidFill>
                  <a:srgbClr val="FFFFFF"/>
                </a:solidFill>
                <a:latin typeface="Aptos"/>
              </a:rPr>
              <a:t>Conclusion &amp; Future Scope</a:t>
            </a:r>
          </a:p>
        </p:txBody>
      </p:sp>
      <p:sp>
        <p:nvSpPr>
          <p:cNvPr id="4" name="Rounded Rectangle 3"/>
          <p:cNvSpPr/>
          <p:nvPr/>
        </p:nvSpPr>
        <p:spPr>
          <a:xfrm>
            <a:off x="640080" y="1280160"/>
            <a:ext cx="10927080" cy="4983480"/>
          </a:xfrm>
          <a:prstGeom prst="roundRect">
            <a:avLst/>
          </a:prstGeom>
          <a:solidFill>
            <a:srgbClr val="FFFFFF">
              <a:alpha val="93000"/>
            </a:srgbClr>
          </a:solidFill>
          <a:ln>
            <a:solidFill>
              <a:srgbClr val="C5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0200"/>
            <a:ext cx="10287000" cy="4343400"/>
          </a:xfrm>
          <a:prstGeom prst="rect">
            <a:avLst/>
          </a:prstGeom>
          <a:noFill/>
        </p:spPr>
        <p:txBody>
          <a:bodyPr wrap="square">
            <a:spAutoFit/>
          </a:bodyPr>
          <a:lstStyle/>
          <a:p>
            <a:pPr algn="l"/>
            <a:r>
              <a:rPr sz="2000" b="0">
                <a:solidFill>
                  <a:srgbClr val="1E293B"/>
                </a:solidFill>
                <a:latin typeface="Aptos"/>
              </a:rPr>
              <a:t>CONCLUSION
The proposed system uses Elastic Net for feature selection and Random Forest for classification of user activity.
The website provides an interactive interface for prediction, analysis and monitoring.
FUTURE SCOPE
• Real-time activity monitoring
• Larger and more diverse datasets
• Advanced anomaly detection
• Automated model retraining
• Integration with security systems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pic>
        <p:nvPicPr>
          <p:cNvPr id="4" name="Background" descr="bg_thanks.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14400" y="2971800"/>
            <a:ext cx="10332720" cy="914400"/>
          </a:xfrm>
          <a:prstGeom prst="rect">
            <a:avLst/>
          </a:prstGeom>
          <a:noFill/>
        </p:spPr>
        <p:txBody>
          <a:bodyPr wrap="square">
            <a:spAutoFit/>
          </a:bodyPr>
          <a:lstStyle/>
          <a:p>
            <a:pPr algn="ctr"/>
            <a:r>
              <a:rPr sz="3800" b="1">
                <a:solidFill>
                  <a:srgbClr val="7DD3FC"/>
                </a:solidFill>
                <a:latin typeface="Apto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